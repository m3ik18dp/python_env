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Be Vietnam Pro ExtraBold"/>
      <p:bold r:id="rId31"/>
      <p:boldItalic r:id="rId32"/>
    </p:embeddedFont>
    <p:embeddedFont>
      <p:font typeface="Be Vietnam Pro SemiBold"/>
      <p:regular r:id="rId33"/>
      <p:bold r:id="rId34"/>
      <p:italic r:id="rId35"/>
      <p:boldItalic r:id="rId36"/>
    </p:embeddedFont>
    <p:embeddedFont>
      <p:font typeface="Be Vietnam Pr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5C653D-8CC8-45C9-A960-C95EF9F8E170}">
  <a:tblStyle styleId="{185C653D-8CC8-45C9-A960-C95EF9F8E1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VietnamPr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VietnamProExtraBold-bold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BeVietnamPro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BeVietnamPro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BeVietnamProSemiBold-italic.fntdata"/><Relationship Id="rId12" Type="http://schemas.openxmlformats.org/officeDocument/2006/relationships/slide" Target="slides/slide6.xml"/><Relationship Id="rId34" Type="http://schemas.openxmlformats.org/officeDocument/2006/relationships/font" Target="fonts/BeVietnamProSemiBold-bold.fntdata"/><Relationship Id="rId15" Type="http://schemas.openxmlformats.org/officeDocument/2006/relationships/slide" Target="slides/slide9.xml"/><Relationship Id="rId37" Type="http://schemas.openxmlformats.org/officeDocument/2006/relationships/font" Target="fonts/BeVietnamPro-regular.fntdata"/><Relationship Id="rId14" Type="http://schemas.openxmlformats.org/officeDocument/2006/relationships/slide" Target="slides/slide8.xml"/><Relationship Id="rId36" Type="http://schemas.openxmlformats.org/officeDocument/2006/relationships/font" Target="fonts/BeVietnamPro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BeVietnamPro-italic.fntdata"/><Relationship Id="rId16" Type="http://schemas.openxmlformats.org/officeDocument/2006/relationships/slide" Target="slides/slide10.xml"/><Relationship Id="rId38" Type="http://schemas.openxmlformats.org/officeDocument/2006/relationships/font" Target="fonts/BeVietnamPr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11" Type="http://schemas.openxmlformats.org/officeDocument/2006/relationships/image" Target="../media/image28.png"/><Relationship Id="rId10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11" Type="http://schemas.openxmlformats.org/officeDocument/2006/relationships/image" Target="../media/image40.png"/><Relationship Id="rId10" Type="http://schemas.openxmlformats.org/officeDocument/2006/relationships/image" Target="../media/image17.png"/><Relationship Id="rId9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55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5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44.png"/><Relationship Id="rId8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4260353"/>
            <a:ext cx="45720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71850" y="660201"/>
            <a:ext cx="5448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TRƯỜNG ĐẠI HỌC CÔNG NGHỆ TP.HCM (HUTECH)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624387" y="1124991"/>
            <a:ext cx="2943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KHOA CÔNG NGHỆ THÔNG TIN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1715541"/>
            <a:ext cx="9525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725453" y="2039391"/>
            <a:ext cx="8741092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1F5F9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rPr>
              <a:t>PHÂN TÍCH &amp; THIẾT KẾ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F1F5F9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rPr>
              <a:t> HỆ THỐNG QUẢN LÝ NGÂN HÀNG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271962" y="3513683"/>
            <a:ext cx="3648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(Tài khoản &amp; Giao dịch tại quầy)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72062" y="5984378"/>
            <a:ext cx="2047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TP. Hồ Chí Minh, Tháng 01/2026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105275" y="4555628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SINH VIÊN THỰC HIỆN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05550" y="4555628"/>
            <a:ext cx="178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Sơn Ngọc Duy Trí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105275" y="4869953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MÃ SỐ SINH VIÊN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305550" y="4869953"/>
            <a:ext cx="178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2180608325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105275" y="5184278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GIẢNG VIÊN HƯỚNG DẪN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305550" y="5184278"/>
            <a:ext cx="178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-----------------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1.1 Bối cảnh &amp; Hiện trạng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76250" y="962025"/>
            <a:ext cx="6229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76250" y="1905148"/>
            <a:ext cx="5429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Phòng giao dịch quy mô nhỏ đang gặp khó khăn trong việc hiện đại hóa quy trình, vẫn sử dụng Excel rời rạc.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76250" y="2644229"/>
            <a:ext cx="57007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3F5E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Những "Nỗi đau" (Pain Points)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5012"/>
            <a:ext cx="5429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14375" y="3072854"/>
            <a:ext cx="5191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Dữ liệu "mạnh ai nấy giữ":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Thông tin khách hàng, số dư, lịch sử giao dịch nằm ở các file khác nhau, không đồng bộ.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4375" y="3735734"/>
            <a:ext cx="5191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Dễ sai sót: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Cộng trừ thủ công bằng máy tính bỏ túi dễ gây lệch tiền.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4375" y="4398615"/>
            <a:ext cx="5191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Mất thời gian: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Tra cứu lịch sử hoặc in sao kê mất nhiều thời gian.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4375" y="5061495"/>
            <a:ext cx="5191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Rủi ro bảo mật: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File Excel dễ bị copy hoặc xóa nhầm, không phân quyền.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76250" y="302522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76250" y="368810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76250" y="43509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76250" y="501387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47775"/>
            <a:ext cx="35876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1247775"/>
            <a:ext cx="3587799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247775"/>
            <a:ext cx="3587650" cy="236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1.2 Mục tiêu dự án "Core Banking Mini"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76250" y="962025"/>
            <a:ext cx="36290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23900" y="2114550"/>
            <a:ext cx="324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Số hóa toàn diện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23900" y="2543175"/>
            <a:ext cx="3092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Đưa toàn bộ hồ sơ khách hàng (CIF) và tài khoản về một CSDL tập trung duy nhất.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9675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4549675" y="2114550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Tự động hóa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549675" y="2543175"/>
            <a:ext cx="30924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tự động tính toán, kiểm tra số dư và ghi nhật ký giao dịch Real-time.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5600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375600" y="2114550"/>
            <a:ext cx="324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Hỗ trợ quản lý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75600" y="2543175"/>
            <a:ext cx="3092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Giám đốc chi nhánh xem báo cáo dòng tiền ra/vào chỉ với 1 cú click chuột.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2012" y="16192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4925" y="16192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85137" y="1619250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7009"/>
            <a:ext cx="5429250" cy="261550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1.3 Cơ chế hoạt động: Hạch toán kép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476250" y="962025"/>
            <a:ext cx="38862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292697"/>
            <a:ext cx="5429250" cy="104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410801" y="2754659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Định danh duy nhất (CIF)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0" y="3373784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6534150" y="4326284"/>
            <a:ext cx="4933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Mỗi khách hàng chỉ có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01 mã CIF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duy nhất trên toàn hệ thống, dù họ có mở bao nhiêu tài khoản đi nữa.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3622327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Nạp tiền: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Túi khách -&gt; Quỹ tiền mặt.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(Ghi CÓ/Tăng cho tài khoản khách)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4285208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Rút tiền: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Quỹ tiền mặt -&gt; Túi khách.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(Ghi NỢ/Giảm cho tài khoản khách)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4948088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Chuyển khoản: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Trừ TK A và Cộng TK B cùng lúc.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76250" y="362232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76250" y="428520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76250" y="494808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220366"/>
            <a:ext cx="5429250" cy="3188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08957"/>
            <a:ext cx="5429250" cy="241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1.4 Phạm vi &amp; Giới hạn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76250" y="962025"/>
            <a:ext cx="66960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23900" y="2468016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Phạm vi thực hiện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34150" y="2856607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Ngoài phạm vi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34150" y="3332857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chưa bao gồm: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249659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8851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962025" y="2944266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lý hồ sơ khách hàng (CIF).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62025" y="333285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lý tài khoản thanh toán &amp; tiết kiệm (CASA).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62025" y="372144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Xử lý giao dịch tại quầy: Nạp, Rút, Chuyển khoản nội bộ.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62025" y="438432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Tra cứu lịch sử và in sao kê.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62025" y="477291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lý nhân viên (Admin).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772275" y="360714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Internet Banking / Mobile App.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772275" y="399573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Tính lãi suất tự động cuối ngày.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72275" y="4384327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Kết nối liên ngân hàng (NAPAS).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23900" y="2896641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23900" y="328523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23900" y="367382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23900" y="433670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23900" y="472529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534150" y="355952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534150" y="394811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534150" y="433670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47775"/>
            <a:ext cx="3587650" cy="264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1247775"/>
            <a:ext cx="3587799" cy="2640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247775"/>
            <a:ext cx="3587650" cy="264021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1.5 Yêu cầu Phi chức năng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476250" y="962025"/>
            <a:ext cx="60102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23900" y="2114550"/>
            <a:ext cx="324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Tính toàn vẹn (Integrity)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23900" y="2543175"/>
            <a:ext cx="3092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Yêu cầu sống còn. Sử dụng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Transaction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trong SQL để đảm bảo tiền trừ nơi này phải cộng nơi kia.</a:t>
            </a:r>
            <a:endParaRPr/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9675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4549675" y="2114550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Bảo mật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549675" y="2543175"/>
            <a:ext cx="30924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Mật khẩu nhân viên phải mã hóa (Hash). Nhân viên không được sửa dữ liệu nhạy cảm nếu không có quyền.</a:t>
            </a:r>
            <a:endParaRPr/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5600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8375600" y="2114550"/>
            <a:ext cx="324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Tốc độ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375600" y="2543175"/>
            <a:ext cx="3092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Giao dịch phải xử lý tức thì (Real-time), không để khách hàng chờ đợi lâu.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1619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4925" y="16192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13712" y="161925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2.1 Danh sách Tác nhân (Actors)</a:t>
            </a:r>
            <a:endParaRPr/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476250" y="1247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{185C653D-8CC8-45C9-A960-C95EF9F8E170}</a:tableStyleId>
              </a:tblPr>
              <a:tblGrid>
                <a:gridCol w="3371850"/>
                <a:gridCol w="78676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6B6D4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Tác nhân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6B6D4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Vai trò trong hệ thống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Giao dịch viên (Teller)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Người trực tiếp sử dụng phần mềm. Thao tác chính: Mở tài khoản, Nạp tiền, Rút tiền.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Kiểm soát viên (Supervisor)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Người quản lý, có quyền phê duyệt giao dịch lớn hoặc xử lý sự cố.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Khách hàng (Customer)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Người thụ hưởng dịch vụ. Trong phạm vi đồ án, là tác nhân thụ động (đứng đợi tại quầy).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9"/>
          <p:cNvSpPr/>
          <p:nvPr/>
        </p:nvSpPr>
        <p:spPr>
          <a:xfrm>
            <a:off x="476250" y="962025"/>
            <a:ext cx="47148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76250" y="1662112"/>
            <a:ext cx="33718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848100" y="1662112"/>
            <a:ext cx="7867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76250" y="2090737"/>
            <a:ext cx="3371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3848100" y="2090737"/>
            <a:ext cx="7867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76250" y="2519362"/>
            <a:ext cx="3371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848100" y="2519362"/>
            <a:ext cx="7867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76250" y="2947987"/>
            <a:ext cx="3371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3848100" y="2947987"/>
            <a:ext cx="7867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1909762"/>
            <a:ext cx="8991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476250" y="1138237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2.2 Sơ đồ Use Case Tổng Quát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76250" y="1624012"/>
            <a:ext cx="50768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2150" y="318998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3629025" y="3951982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[Hình ảnh Sơ đồ Use Case từ Báo cáo]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629025" y="4226272"/>
            <a:ext cx="493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Gồm các nhóm chức năng: Quản lý khách hàng, Quản lý tài khoản, Giao dịch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6594"/>
            <a:ext cx="5429250" cy="211633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2.3.1 Đặc tả UC02: Tạo hồ sơ khách hàng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476250" y="962025"/>
            <a:ext cx="3009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76250" y="2717601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Mô tả: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Tạo mã CIF mới.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76250" y="2991891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Luồng sự kiện chính: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34150" y="3004244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3F5E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Ngoại lệ: Trùng CCCD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34150" y="3432869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Nếu số CCCD đã có trong hệ thống: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52450" y="3265229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66750" y="326618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chọn "Thêm khách hàng mới".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04825" y="3539519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66750" y="354047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hiện form nhập liệu.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04825" y="381381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66750" y="381476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nhập thông tin từ giấy tờ tùy thân.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495300" y="408810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66750" y="408905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kiểm tra định dạng &amp; trùng lặp.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04825" y="436239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5.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66750" y="436334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Lưu vào CSDL &amp; Sinh mã CIF.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04825" y="463668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66750" y="463763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Thông báo thành công.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629400" y="380145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24650" y="3802409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Cảnh báo: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"Khách hàng này đã tồn tại"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629400" y="40757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24650" y="407670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Hiện thông tin cũ để GDV kiểm tra.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629400" y="43500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24650" y="435099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Mục đích: Tránh tạo trùng lắp dữ liệu rác.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21297"/>
            <a:ext cx="5429250" cy="1198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910012"/>
            <a:ext cx="5429250" cy="119821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2.3.2 Đặc tả UC06: Rút tiền mặt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476250" y="962025"/>
            <a:ext cx="47434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76250" y="2485132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Luồng chính: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52450" y="2758469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66750" y="275942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nhập Số TK &amp; Số tiền.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04825" y="303276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66750" y="303371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hiện: Tên, Chữ ký mẫu, Số dư.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504825" y="330705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66750" y="330800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đối chiếu khách thực tế.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95300" y="35813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666750" y="358229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kiểm tra: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Số dư khả dụng &gt;= Số tiền?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504825" y="385563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5.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66750" y="385658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xác nhận.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504825" y="4129920"/>
            <a:ext cx="161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66750" y="413087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trừ tiền (Update Balance).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514350" y="4404211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7.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66750" y="440516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Ghi log giao dịch loại 'RUT'.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514350" y="4678501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8.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66750" y="467945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 phiếu chi.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534150" y="2768947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3F5E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Ngoại lệ 4a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534150" y="3197572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Số dư không đủ: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Báo lỗi và chặn giao dịch ngay lập tức.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534150" y="4157662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3F5E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Ngoại lệ 2a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534150" y="4586287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Tài khoản bị khóa: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Báo lỗi "Tài khoản đang bị tạm khóa".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451770"/>
            <a:ext cx="11239500" cy="1592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0687" y="2093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0562" y="2093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0437" y="2093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20312" y="20935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2.3.3 Đặc tả UC07: Chuyển khoản nội bộ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76250" y="1247775"/>
            <a:ext cx="11239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Chuyển tiền giữa 2 tài khoản cùng ngân hàng. Đảm bảo tính nguyên tử (ACID).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476250" y="962025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476250" y="2620267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723900" y="3699420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Bước 6 (Quan trọng):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476250" y="2617440"/>
            <a:ext cx="2809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Nhập thông tin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Nguồn - Đích - Tiền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3286125" y="2617440"/>
            <a:ext cx="2809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Kiểm tra tài khoản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&amp; Số dư nguồn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096000" y="2617440"/>
            <a:ext cx="2809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Transaction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Trừ A -&gt; Cộng B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905875" y="2617440"/>
            <a:ext cx="2809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Ghi Log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Cho cả 2 bên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28650" y="39727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723900" y="3973710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6.1: Trừ tiền TK Nguồn.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28650" y="42470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723900" y="4248001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6.2: Cộng tiền TK Đích.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28650" y="452133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723900" y="4522291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6.3: Ghi log giao dịch.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77542"/>
            <a:ext cx="54292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3.1 Activity Diagram: Mở tài khoản mới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476250" y="962025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476250" y="2814637"/>
            <a:ext cx="5429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Mô tả dòng chảy công việc từ lúc khách bước vào quầy yêu cầu mở thẻ cho đến khi hoàn tất.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7339012" y="3677542"/>
            <a:ext cx="3324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[Hình ảnh Activity Diagram từ Báo cáo]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762000" y="3648967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Khách cung cấp giấy tờ.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762000" y="4037558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GDV nhập liệu.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762000" y="4426148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xử lý lưu trữ.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476250" y="364896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476250" y="403755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476250" y="442614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677542"/>
            <a:ext cx="54292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3.2 Activity Diagram: Luồng Hạch toán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476250" y="962025"/>
            <a:ext cx="3419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1552575" y="3677542"/>
            <a:ext cx="3276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[Hình ảnh Activity Diagram Hạch toán]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6286500" y="3170932"/>
            <a:ext cx="5429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Làm rõ cách Core Banking xử lý dữ liệu bên trong để đảm bảo tiền không bị mất đi.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6286500" y="3910012"/>
            <a:ext cx="5429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Minh họa các bước kiểm tra logic nghiệp vụ trước khi thực hiện ghi nợ/ghi có vào cơ sở dữ liệu.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77542"/>
            <a:ext cx="542925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3.3 Sequence Diagram: Rút tiền</a:t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476250" y="962025"/>
            <a:ext cx="4838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476250" y="2999482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Chi tiết hóa sự tương tác giữa các thành phần: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7405687" y="3677542"/>
            <a:ext cx="3190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[Hình ảnh Sequence Diagram Rút tiền]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714375" y="3464272"/>
            <a:ext cx="519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Teller UI: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Giao diện GDV.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714375" y="3852862"/>
            <a:ext cx="519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Controller: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Xử lý nghiệp vụ.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714375" y="4241452"/>
            <a:ext cx="519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Database: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Truy xuất dữ liệu.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476250" y="341664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476250" y="380523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76250" y="419382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12565"/>
            <a:ext cx="11239500" cy="466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4.1 Thiết kế Cơ sở dữ liệu (ERD)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476250" y="1247775"/>
            <a:ext cx="11239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Mô hình quan hệ thực thể là trái tim của hệ thống.</a:t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476250" y="962025"/>
            <a:ext cx="4943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4981575" y="3910012"/>
            <a:ext cx="2228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[Hình ảnh ERD từ Báo cáo]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632769"/>
            <a:ext cx="5429250" cy="23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32769"/>
            <a:ext cx="5429250" cy="236398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4.2 Từ điển dữ liệu (1)</a:t>
            </a:r>
            <a:endParaRPr/>
          </a:p>
        </p:txBody>
      </p:sp>
      <p:sp>
        <p:nvSpPr>
          <p:cNvPr id="381" name="Google Shape;381;p28"/>
          <p:cNvSpPr/>
          <p:nvPr/>
        </p:nvSpPr>
        <p:spPr>
          <a:xfrm>
            <a:off x="476250" y="962025"/>
            <a:ext cx="6810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723900" y="2880419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KHACH_HANG (CIF)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6534150" y="2880419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TAI_KHOAN (Master)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962025" y="3309044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ma_khach_hang (Int):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Khóa nội bộ, tự tăng.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962025" y="3697634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cccd (Varchar 12):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Unique, Not Null. Khóa nghiệp vụ quan trọng nhất.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962025" y="436051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ho_ten: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Nvarchar(100).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6772275" y="3309044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so_tai_khoan (PK):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Số in trên thẻ.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6772275" y="3697634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so_du (Decimal 18,2):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Đảm bảo độ chính xác. </a:t>
            </a:r>
            <a:r>
              <a:rPr b="0" i="0" lang="en-US" sz="135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CHECK (so_du &gt;= 0)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6772275" y="436051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trang_thai: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ACTIVE, LOCKED, CLOSED.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723900" y="326141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723900" y="365000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723900" y="43128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6534150" y="326141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6534150" y="365000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6534150" y="43128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0" name="Google Shape;4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95550"/>
            <a:ext cx="5429250" cy="2638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78509"/>
            <a:ext cx="5429250" cy="14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9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4.2 Từ điển dữ liệu (2)</a:t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476250" y="962025"/>
            <a:ext cx="6715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723900" y="2743200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GIAO_DICH (Log)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6534150" y="3326159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NHAN_VIEN (User)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6534150" y="3754784"/>
            <a:ext cx="4933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password_hash: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Lưu mật khẩu dạng mã hóa (MD5/SHA256). Tuyệt đối không lưu văn bản thuần.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962025" y="317182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ma_gd (BigInt):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Do số lượng giao dịch tăng nhanh, Int không đủ.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962025" y="383470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ma_tham_chieu: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Nhóm các bút toán liên quan (VD: Chuyển khoản sinh ra 2 dòng log).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962025" y="449758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tai_khoan_doi_ung: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Lưu STK đối tác.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723900" y="312420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723900" y="378708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723900" y="444996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47775"/>
            <a:ext cx="11239500" cy="214104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4.3 Thiết kế Lược đồ Quan hệ (3NF)</a:t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476250" y="962025"/>
            <a:ext cx="4086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723900" y="1495425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1. CHI_NHANH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ma_chi_nhanh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ten_chi_nhanh, dia_chi)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723900" y="1769715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2. NHAN_VIEN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ma_nhan_vien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#ma_chi_nhanh, ho_ten, username, password_hash, chuc_vu)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723900" y="2044005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3. KHACH_HANG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ma_khach_hang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ho_ten, cccd, sdt, dia_chi, ngay_tao)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723900" y="2318295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4. LOAI_TAI_KHOAN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ma_loai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ten_loai, lai_suat)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723900" y="2592585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5. TAI_KHOAN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so_tai_khoan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#ma_khach_hang, #ma_loai, so_du, trang_thai, ngay_mo)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723900" y="2866876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6. GIAO_DICH (</a:t>
            </a:r>
            <a:r>
              <a:rPr b="0" i="0" lang="en-US" sz="1350" u="sng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ma_gd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ma_tham_chieu, #so_tai_khoan, #ma_nhan_vien, loai_gd, so_tien...)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429000"/>
            <a:ext cx="54292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57525"/>
            <a:ext cx="54292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1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Phụ lục: Script SQL Cài đặt (1)</a:t>
            </a:r>
            <a:endParaRPr/>
          </a:p>
        </p:txBody>
      </p:sp>
      <p:sp>
        <p:nvSpPr>
          <p:cNvPr id="436" name="Google Shape;436;p31"/>
          <p:cNvSpPr/>
          <p:nvPr/>
        </p:nvSpPr>
        <p:spPr>
          <a:xfrm>
            <a:off x="476250" y="962025"/>
            <a:ext cx="5086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1" name="Google Shape;4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243262"/>
            <a:ext cx="54292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29000"/>
            <a:ext cx="54292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2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Phụ lục: Script SQL Cài đặt (2)</a:t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476250" y="962025"/>
            <a:ext cx="4991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47775"/>
            <a:ext cx="11239500" cy="132873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3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Phụ lục: Script SQL Cài đặt (3)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476250" y="962025"/>
            <a:ext cx="4991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38400"/>
            <a:ext cx="5429250" cy="2752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32769"/>
            <a:ext cx="5429250" cy="236398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4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Kết luận</a:t>
            </a: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476250" y="962025"/>
            <a:ext cx="93059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 txBox="1"/>
          <p:nvPr/>
        </p:nvSpPr>
        <p:spPr>
          <a:xfrm>
            <a:off x="723900" y="2686050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Kết quả đạt được</a:t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6534150" y="2880419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3F5E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Hạn chế</a:t>
            </a:r>
            <a:endParaRPr/>
          </a:p>
        </p:txBody>
      </p:sp>
      <p:sp>
        <p:nvSpPr>
          <p:cNvPr id="465" name="Google Shape;465;p34"/>
          <p:cNvSpPr txBox="1"/>
          <p:nvPr/>
        </p:nvSpPr>
        <p:spPr>
          <a:xfrm>
            <a:off x="1009650" y="3114675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Xây dựng được khung sườn vững chắc cho Core Banking Mini.</a:t>
            </a:r>
            <a:endParaRPr/>
          </a:p>
        </p:txBody>
      </p:sp>
      <p:sp>
        <p:nvSpPr>
          <p:cNvPr id="466" name="Google Shape;466;p34"/>
          <p:cNvSpPr txBox="1"/>
          <p:nvPr/>
        </p:nvSpPr>
        <p:spPr>
          <a:xfrm>
            <a:off x="1009650" y="3777555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Giải quyết bài toán quản lý dòng tiền, hạch toán kép.</a:t>
            </a:r>
            <a:endParaRPr/>
          </a:p>
        </p:txBody>
      </p:sp>
      <p:sp>
        <p:nvSpPr>
          <p:cNvPr id="467" name="Google Shape;467;p34"/>
          <p:cNvSpPr txBox="1"/>
          <p:nvPr/>
        </p:nvSpPr>
        <p:spPr>
          <a:xfrm>
            <a:off x="1009650" y="4166145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Đảm bảo tính nhất quán dữ liệu (Data Integrity).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009650" y="4554735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Hoàn thiện các mô hình UML và ERD.</a:t>
            </a:r>
            <a:endParaRPr/>
          </a:p>
        </p:txBody>
      </p:sp>
      <p:sp>
        <p:nvSpPr>
          <p:cNvPr id="469" name="Google Shape;469;p34"/>
          <p:cNvSpPr txBox="1"/>
          <p:nvPr/>
        </p:nvSpPr>
        <p:spPr>
          <a:xfrm>
            <a:off x="6772275" y="3309044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Chỉ dừng ở mức phân tích thiết kế, chưa kiểm chứng hiệu năng thực tế.</a:t>
            </a:r>
            <a:endParaRPr/>
          </a:p>
        </p:txBody>
      </p:sp>
      <p:sp>
        <p:nvSpPr>
          <p:cNvPr id="470" name="Google Shape;470;p34"/>
          <p:cNvSpPr txBox="1"/>
          <p:nvPr/>
        </p:nvSpPr>
        <p:spPr>
          <a:xfrm>
            <a:off x="6772275" y="397192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Chưa tích hợp thanh toán Online.</a:t>
            </a:r>
            <a:endParaRPr/>
          </a:p>
        </p:txBody>
      </p:sp>
      <p:sp>
        <p:nvSpPr>
          <p:cNvPr id="471" name="Google Shape;471;p34"/>
          <p:cNvSpPr txBox="1"/>
          <p:nvPr/>
        </p:nvSpPr>
        <p:spPr>
          <a:xfrm>
            <a:off x="6772275" y="436051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Bảo mật nâng cao còn bỏ ngỏ.</a:t>
            </a:r>
            <a:endParaRPr/>
          </a:p>
        </p:txBody>
      </p:sp>
      <p:sp>
        <p:nvSpPr>
          <p:cNvPr id="472" name="Google Shape;472;p34"/>
          <p:cNvSpPr txBox="1"/>
          <p:nvPr/>
        </p:nvSpPr>
        <p:spPr>
          <a:xfrm>
            <a:off x="723900" y="3114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723900" y="377755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723900" y="416614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723900" y="455473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✓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6534150" y="3261419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6534150" y="392430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  <p:sp>
        <p:nvSpPr>
          <p:cNvPr id="478" name="Google Shape;478;p34"/>
          <p:cNvSpPr txBox="1"/>
          <p:nvPr/>
        </p:nvSpPr>
        <p:spPr>
          <a:xfrm>
            <a:off x="6534150" y="43128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2025" y="1247775"/>
            <a:ext cx="3587799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247775"/>
            <a:ext cx="35876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5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Hướng phát triển</a:t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476250" y="962025"/>
            <a:ext cx="76676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8" name="Google Shape;48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0037" y="14954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5"/>
          <p:cNvSpPr txBox="1"/>
          <p:nvPr/>
        </p:nvSpPr>
        <p:spPr>
          <a:xfrm>
            <a:off x="646591" y="2162175"/>
            <a:ext cx="324696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Xây dựng ứng dụng hoàn chỉnh</a:t>
            </a:r>
            <a:endParaRPr/>
          </a:p>
        </p:txBody>
      </p:sp>
      <p:pic>
        <p:nvPicPr>
          <p:cNvPr descr="image.png" id="490" name="Google Shape;49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5"/>
          <p:cNvSpPr txBox="1"/>
          <p:nvPr/>
        </p:nvSpPr>
        <p:spPr>
          <a:xfrm>
            <a:off x="4472363" y="2162175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Sinh trắc học</a:t>
            </a:r>
            <a:endParaRPr/>
          </a:p>
        </p:txBody>
      </p:sp>
      <p:sp>
        <p:nvSpPr>
          <p:cNvPr id="492" name="Google Shape;492;p35"/>
          <p:cNvSpPr txBox="1"/>
          <p:nvPr/>
        </p:nvSpPr>
        <p:spPr>
          <a:xfrm>
            <a:off x="4549675" y="2590800"/>
            <a:ext cx="3092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Xác thực vân tay/khuôn mặt.</a:t>
            </a:r>
            <a:endParaRPr/>
          </a:p>
        </p:txBody>
      </p:sp>
      <p:pic>
        <p:nvPicPr>
          <p:cNvPr descr="image.png" id="493" name="Google Shape;493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650" y="1495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5"/>
          <p:cNvSpPr txBox="1"/>
          <p:nvPr/>
        </p:nvSpPr>
        <p:spPr>
          <a:xfrm>
            <a:off x="8298291" y="2162175"/>
            <a:ext cx="324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AI Fraud Detection</a:t>
            </a:r>
            <a:endParaRPr/>
          </a:p>
        </p:txBody>
      </p:sp>
      <p:sp>
        <p:nvSpPr>
          <p:cNvPr id="495" name="Google Shape;495;p35"/>
          <p:cNvSpPr txBox="1"/>
          <p:nvPr/>
        </p:nvSpPr>
        <p:spPr>
          <a:xfrm>
            <a:off x="8375600" y="2590800"/>
            <a:ext cx="3092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Phát hiện gian lận.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0" name="Google Shape;5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637" y="4165252"/>
            <a:ext cx="3514725" cy="47431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 txBox="1"/>
          <p:nvPr/>
        </p:nvSpPr>
        <p:spPr>
          <a:xfrm>
            <a:off x="4965858" y="2218432"/>
            <a:ext cx="22602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1F5F9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rPr>
              <a:t>Q &amp; A</a:t>
            </a:r>
            <a:endParaRPr/>
          </a:p>
        </p:txBody>
      </p:sp>
      <p:sp>
        <p:nvSpPr>
          <p:cNvPr id="503" name="Google Shape;503;p36"/>
          <p:cNvSpPr txBox="1"/>
          <p:nvPr/>
        </p:nvSpPr>
        <p:spPr>
          <a:xfrm>
            <a:off x="3671887" y="3323332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Cảm ơn Thầy/Cô và các bạn đã lắng nghe!</a:t>
            </a:r>
            <a:endParaRPr/>
          </a:p>
        </p:txBody>
      </p:sp>
      <p:sp>
        <p:nvSpPr>
          <p:cNvPr id="504" name="Google Shape;504;p36"/>
          <p:cNvSpPr txBox="1"/>
          <p:nvPr/>
        </p:nvSpPr>
        <p:spPr>
          <a:xfrm>
            <a:off x="4338637" y="4365277"/>
            <a:ext cx="3514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Sơn Ngọc Duy Trí | 2180608325 | HUTECH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